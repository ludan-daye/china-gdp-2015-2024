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B2322A"/>
                </a:solidFill>
                <a:latin typeface="Menlo"/>
              </a:rPr>
              <a:t>—— 期末项目 · 数据可视化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1B1B1B"/>
                </a:solidFill>
                <a:latin typeface="Songti SC"/>
              </a:rPr>
              <a:t>从工业驱动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1B1B1B"/>
                </a:solidFill>
                <a:latin typeface="Songti SC"/>
              </a:rPr>
              <a:t>走向  服务驱动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3520440"/>
            <a:ext cx="3108960" cy="256032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265176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E07B39"/>
                </a:solidFill>
                <a:latin typeface="Songti SC"/>
              </a:rPr>
              <a:t>服务驱动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3A3A3A"/>
                </a:solidFill>
                <a:latin typeface="Songti SC"/>
              </a:rPr>
              <a:t>以 2015–2024 十年数据为镜，讲述中国经济规模翻倍、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3A3A3A"/>
                </a:solidFill>
                <a:latin typeface="Songti SC"/>
              </a:rPr>
              <a:t>产业结构换骨、区域格局重塑的故事。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5943600"/>
            <a:ext cx="10972800" cy="0"/>
          </a:xfrm>
          <a:prstGeom prst="line">
            <a:avLst/>
          </a:prstGeom>
          <a:ln w="1905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080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6695A"/>
                </a:solidFill>
                <a:latin typeface="Menlo"/>
              </a:rPr>
              <a:t>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1B1B"/>
                </a:solidFill>
                <a:latin typeface="Songti SC"/>
              </a:rPr>
              <a:t>2015 —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6080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6695A"/>
                </a:solidFill>
                <a:latin typeface="Menlo"/>
              </a:rPr>
              <a:t>样本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6309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1B1B"/>
                </a:solidFill>
                <a:latin typeface="Songti SC"/>
              </a:rPr>
              <a:t>31 省 · 全国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6080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6695A"/>
                </a:solidFill>
                <a:latin typeface="Menlo"/>
              </a:rPr>
              <a:t>叙事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6309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1B1B"/>
                </a:solidFill>
                <a:latin typeface="Songti SC"/>
              </a:rPr>
              <a:t>结构转型 A 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60807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6695A"/>
                </a:solidFill>
                <a:latin typeface="Menlo"/>
              </a:rPr>
              <a:t>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6309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B1B1B"/>
                </a:solidFill>
                <a:latin typeface="Songti SC"/>
              </a:rPr>
              <a:t>14 图 · 报告 ·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1B1B1B"/>
                </a:solidFill>
                <a:latin typeface="Songti SC"/>
              </a:rPr>
              <a:t>三个关键数字，十年中国经济浓缩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1508760"/>
            <a:ext cx="10972800" cy="0"/>
          </a:xfrm>
          <a:prstGeom prst="line">
            <a:avLst/>
          </a:prstGeom>
          <a:ln w="2540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19202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1B1B1B"/>
                </a:solidFill>
                <a:latin typeface="Songti SC"/>
              </a:rPr>
              <a:t>70.3  →  134.8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76695A"/>
                </a:solidFill>
                <a:latin typeface="Songti SC"/>
              </a:rPr>
              <a:t>万亿元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977639"/>
            <a:ext cx="3474720" cy="0"/>
          </a:xfrm>
          <a:prstGeom prst="line">
            <a:avLst/>
          </a:prstGeom>
          <a:ln w="1016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A3A3A"/>
                </a:solidFill>
                <a:latin typeface="PingFang SC"/>
              </a:rPr>
              <a:t>全国 GDP 总量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07B39"/>
                </a:solidFill>
                <a:latin typeface="Songti SC"/>
              </a:rPr>
              <a:t>· 十年翻倍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1B1B1B"/>
                </a:solidFill>
                <a:latin typeface="Songti SC"/>
              </a:rPr>
              <a:t>51.7  →  56.8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76695A"/>
                </a:solidFill>
                <a:latin typeface="Songti SC"/>
              </a:rPr>
              <a:t>% · 占 GDP 比重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3977639"/>
            <a:ext cx="3474720" cy="0"/>
          </a:xfrm>
          <a:prstGeom prst="line">
            <a:avLst/>
          </a:prstGeom>
          <a:ln w="1016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34840" y="4114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A3A3A"/>
                </a:solidFill>
                <a:latin typeface="PingFang SC"/>
              </a:rPr>
              <a:t>第三产业占比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572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07B39"/>
                </a:solidFill>
                <a:latin typeface="Songti SC"/>
              </a:rPr>
              <a:t>· 服务化加速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2024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1B1B1B"/>
                </a:solidFill>
                <a:latin typeface="Songti SC"/>
              </a:rPr>
              <a:t>+0.79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76695A"/>
                </a:solidFill>
                <a:latin typeface="Songti SC"/>
              </a:rPr>
              <a:t>Pearson r · 省际增速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0" y="3977639"/>
            <a:ext cx="3474720" cy="0"/>
          </a:xfrm>
          <a:prstGeom prst="line">
            <a:avLst/>
          </a:prstGeom>
          <a:ln w="1016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0" y="41148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3A3A3A"/>
                </a:solidFill>
                <a:latin typeface="PingFang SC"/>
              </a:rPr>
              <a:t>31 省增速同步性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5720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07B39"/>
                </a:solidFill>
                <a:latin typeface="Songti SC"/>
              </a:rPr>
              <a:t>· 经济一盘棋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数据来源：国家统计局《2024 年国民经济和社会发展统计公报》及各年度分省数据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1B1B1B"/>
                </a:solidFill>
                <a:latin typeface="Songti SC"/>
              </a:rPr>
              <a:t>全篇由三章组成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1508760"/>
            <a:ext cx="10972800" cy="0"/>
          </a:xfrm>
          <a:prstGeom prst="line">
            <a:avLst/>
          </a:prstGeom>
          <a:ln w="2540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201168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i="1">
                <a:solidFill>
                  <a:srgbClr val="E07B39"/>
                </a:solidFill>
                <a:latin typeface="Songti S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031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B1B1B"/>
                </a:solidFill>
                <a:latin typeface="Songti SC"/>
              </a:rPr>
              <a:t>总量在膨胀，结构在换骨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788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3A"/>
                </a:solidFill>
                <a:latin typeface="PingFang SC"/>
              </a:rPr>
              <a:t>5 张图 · 全国 GDP 走势 / 三产堆叠 / 占比演化 / 增速节奏 / H1 三元图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218688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33756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i="1">
                <a:solidFill>
                  <a:srgbClr val="E07B39"/>
                </a:solidFill>
                <a:latin typeface="Songti SC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4290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B1B1B"/>
                </a:solidFill>
                <a:latin typeface="Songti SC"/>
              </a:rPr>
              <a:t>四极稳定，梯队重排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114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3A"/>
                </a:solidFill>
                <a:latin typeface="PingFang SC"/>
              </a:rPr>
              <a:t>6 张图 · 排名柱 / 三产占比 / 哑铃图 / 分层地图 / 小多图 / H2 结构时钟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4544568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4663440"/>
            <a:ext cx="1463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0" i="1">
                <a:solidFill>
                  <a:srgbClr val="E07B39"/>
                </a:solidFill>
                <a:latin typeface="Songti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548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 i="0">
                <a:solidFill>
                  <a:srgbClr val="1B1B1B"/>
                </a:solidFill>
                <a:latin typeface="Songti SC"/>
              </a:rPr>
              <a:t>经济是联动的，也是异质的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440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A3A3A"/>
                </a:solidFill>
                <a:latin typeface="PingFang SC"/>
              </a:rPr>
              <a:t>3 张图 · Treemap / 结构-增速散点 / 省际增速相关热图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6695A"/>
                </a:solidFill>
                <a:latin typeface="Menlo"/>
              </a:rPr>
              <a:t>CHAPTER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0" i="1">
                <a:solidFill>
                  <a:srgbClr val="E07B39"/>
                </a:solidFill>
                <a:latin typeface="Songti SC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1B1B1B"/>
                </a:solidFill>
                <a:latin typeface="Songti SC"/>
              </a:rPr>
              <a:t>总量在膨胀，</a:t>
            </a:r>
          </a:p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1B1B1B"/>
                </a:solidFill>
                <a:latin typeface="Songti SC"/>
              </a:rPr>
              <a:t>结构在换骨。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206240"/>
            <a:ext cx="74980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3A3A3A"/>
                </a:solidFill>
                <a:latin typeface="Songti SC"/>
              </a:rPr>
              <a:t>Chapter 01 · 总体经济发展趋势 · 5 张图（含 H1 三元图）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172200"/>
            <a:ext cx="10698480" cy="0"/>
          </a:xfrm>
          <a:prstGeom prst="line">
            <a:avLst/>
          </a:prstGeom>
          <a:ln w="1905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T1.1  ·  全国 GDP 走势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十年翻倍：2015–2024 全国 GDP 走势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名义 GDP 从 70.3 万亿增至 134.8 万亿，十年间规模接近翻一番。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1_national_g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81" y="2103120"/>
            <a:ext cx="7087733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折线图 · Line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T1.2  ·  三次产业堆叠面积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结构换骨：三次产业增加值的十年积累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暖橙色第三产业面积从 36.3 万亿长至 76.6 万亿，增量远超二产。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1_industr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81" y="2103120"/>
            <a:ext cx="7087733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Stacked Area · 堆叠面积图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T1.3  ·  三次产业占比演化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服务化加速：第三产业占比从 51.7% 升至 56.8%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十年间三产占比提升 5 个百分点，二产退让 3.5 个百分点。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1_industry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256" y="2103120"/>
            <a:ext cx="7101182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Line Chart · 占比折线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T1.4  ·  年度同比增速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V 型恢复：名义 GDP 增速在疫情后显著反弹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2020 年跌至 2.9%，2021 年反弹至 13.4%，此后回归中速区间。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1_growth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81" y="2103120"/>
            <a:ext cx="7087733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Bar Chart · 柱状图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H1  ·  封面级 HERO 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60" y="685800"/>
            <a:ext cx="1280160" cy="2743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HERO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漂向第三产业顶点：31 省十年产业结构轨迹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灰色 = 31 省轨迹，红色 = 4 个极端代表。所有箭头方向一致。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task1_h1_ter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407" y="2103120"/>
            <a:ext cx="5392880" cy="4206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Ternary Plot · 三元图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6695A"/>
                </a:solidFill>
                <a:latin typeface="Menlo"/>
              </a:rPr>
              <a:t>CHAPTER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0" i="1">
                <a:solidFill>
                  <a:srgbClr val="E07B39"/>
                </a:solidFill>
                <a:latin typeface="Songti SC"/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1B1B1B"/>
                </a:solidFill>
                <a:latin typeface="Songti SC"/>
              </a:rPr>
              <a:t>四极稳定，</a:t>
            </a:r>
          </a:p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1B1B1B"/>
                </a:solidFill>
                <a:latin typeface="Songti SC"/>
              </a:rPr>
              <a:t>梯队重排。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206240"/>
            <a:ext cx="74980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3A3A3A"/>
                </a:solidFill>
                <a:latin typeface="Songti SC"/>
              </a:rPr>
              <a:t>Chapter 02 · 地区经济规模对比 · 6 张图（含 H2 结构时钟）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172200"/>
            <a:ext cx="10698480" cy="0"/>
          </a:xfrm>
          <a:prstGeom prst="line">
            <a:avLst/>
          </a:prstGeom>
          <a:ln w="1905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T2.1  ·  2024 年 GDP 排名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四极格局稳固：粤苏鲁浙贡献全国 1/3 GDP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广东、江苏双双超 13 万亿，与排末的西藏相差 50 余倍。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2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680" y="2103120"/>
            <a:ext cx="3688334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Horizontal Bar · 水平柱状图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T2.2  ·  2024 年三产占比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服务化程度光谱：从新疆 47% 到北京 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北京、上海、海南已进入典型服务型经济区间（三产 ≥ 60%）。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2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147" y="2103120"/>
            <a:ext cx="4221401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100% Stacked Bar · 堆叠条形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T2.3  ·  2015 vs 2024 哑铃对比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体量膨胀，位次重排：十年累计增长率对比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西藏 +160% 绝对冠军；头部省份绝对增量远大于尾部。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2_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680" y="2103120"/>
            <a:ext cx="3688334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Dumbbell Plot · 哑铃图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T2.4  ·  2024 省级 GDP 地图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东南沿海深蓝，西部高原浅淡：2024 省级 GDP 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粤苏两省独占深蓝，鲁浙川豫紧随其后。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2_chorople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997" y="2103120"/>
            <a:ext cx="5195700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Choropleth · 分层设色地图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T2.5  ·  地理网格小多图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地理小多图：31 省十年 GDP 曲线（按方位排列）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橙色 = 头部四强；蓝色 = 其余 27 省；每格右上 = 2024 万亿值。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2_smallm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140" y="2103120"/>
            <a:ext cx="4777414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Small Multiples · 变形地图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H2  ·  封面级 HERO 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24160" y="685800"/>
            <a:ext cx="1280160" cy="27432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FFFFFF"/>
                </a:solidFill>
                <a:latin typeface="Menlo"/>
              </a:rPr>
              <a:t>HERO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结构时钟：几乎所有省份都驶过对角线之上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横纵轴 = 2015/2024 三产占比；偏离对角线 = 服务化幅度。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task2_h2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777" y="2103120"/>
            <a:ext cx="4558140" cy="4206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Clock Chart · 结构时钟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76695A"/>
                </a:solidFill>
                <a:latin typeface="Menlo"/>
              </a:rPr>
              <a:t>CHAPTER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0" i="1">
                <a:solidFill>
                  <a:srgbClr val="E07B39"/>
                </a:solidFill>
                <a:latin typeface="Songti SC"/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560320"/>
            <a:ext cx="74980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1B1B1B"/>
                </a:solidFill>
                <a:latin typeface="Songti SC"/>
              </a:rPr>
              <a:t>经济是联动的，</a:t>
            </a:r>
          </a:p>
          <a:p>
            <a:pPr algn="l">
              <a:lnSpc>
                <a:spcPct val="110000"/>
              </a:lnSpc>
            </a:pPr>
            <a:r>
              <a:rPr sz="5000" b="1" i="0">
                <a:solidFill>
                  <a:srgbClr val="1B1B1B"/>
                </a:solidFill>
                <a:latin typeface="Songti SC"/>
              </a:rPr>
              <a:t>也是异质的。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206240"/>
            <a:ext cx="749807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3A3A3A"/>
                </a:solidFill>
                <a:latin typeface="Songti SC"/>
              </a:rPr>
              <a:t>Chapter 03 · 相关分析 · 3 张图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6172200"/>
            <a:ext cx="10698480" cy="0"/>
          </a:xfrm>
          <a:prstGeom prst="line">
            <a:avLst/>
          </a:prstGeom>
          <a:ln w="1905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T3.1  ·  部分-总体 Treemap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全国 GDP 的省际版图：谁贡献了多少？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前 4 强合计 34.9%；前 10 强合计 61.2%。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3_parttow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994" y="2103120"/>
            <a:ext cx="6545706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Treemap · 部分-总体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T3.2  ·  结构 vs 增速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结构升级 vs 经济增速：两者有关联吗？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r = −0.21 · 弱负相关。服务化 ≠ 快速增长，追赶靠工业化。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3_corr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518" y="2103120"/>
            <a:ext cx="6024658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Scatter + Regression · 回归散点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T3.3  ·  省际相关热图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9875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B1B1B"/>
                </a:solidFill>
                <a:latin typeface="Songti SC"/>
              </a:rPr>
              <a:t>增速的一盘棋：省际年度增速高度同步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3A3A3A"/>
                </a:solidFill>
                <a:latin typeface="Songti SC"/>
              </a:rPr>
              <a:t>31 省两两 Pearson r 均值 +0.79，宏观周期共振显著。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65960"/>
            <a:ext cx="1097280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task3_corr_provi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200" y="2103120"/>
            <a:ext cx="4863294" cy="4206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数据来源：国家统计局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76695A"/>
                </a:solidFill>
                <a:latin typeface="Menlo"/>
              </a:rPr>
              <a:t>Correlation Heatmap · 相关热图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07B39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B2322A"/>
                </a:solidFill>
                <a:latin typeface="Menlo"/>
              </a:rPr>
              <a:t>结语 · Coda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i="0">
                <a:solidFill>
                  <a:srgbClr val="1B1B1B"/>
                </a:solidFill>
                <a:latin typeface="Songti SC"/>
              </a:rPr>
              <a:t>量变的表皮，质变的里子。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10972800" cy="0"/>
          </a:xfrm>
          <a:prstGeom prst="line">
            <a:avLst/>
          </a:prstGeom>
          <a:ln w="2540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6974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1">
                <a:solidFill>
                  <a:srgbClr val="E07B39"/>
                </a:solidFill>
                <a:latin typeface="Songti S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B1B1B"/>
                </a:solidFill>
                <a:latin typeface="Songti SC"/>
              </a:rPr>
              <a:t>总量翻倍，但增速在换挡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十年名义 GDP 从 70 万亿到 134.8 万亿，接近翻一番。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2020 年疫情短暂拐点后，增速从高速切换至中速区间。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642616"/>
            <a:ext cx="5394960" cy="0"/>
          </a:xfrm>
          <a:prstGeom prst="line">
            <a:avLst/>
          </a:prstGeom>
          <a:ln w="1524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63640" y="26974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1">
                <a:solidFill>
                  <a:srgbClr val="E07B39"/>
                </a:solidFill>
                <a:latin typeface="Songti S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5468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B1B1B"/>
                </a:solidFill>
                <a:latin typeface="Songti SC"/>
              </a:rPr>
              <a:t>服务化是时代主旋律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6118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31 省全部向第三产业顶点漂移。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北京三产占比 85%、上海 79%，已进入典型服务型经济区间。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2642616"/>
            <a:ext cx="5394960" cy="0"/>
          </a:xfrm>
          <a:prstGeom prst="line">
            <a:avLst/>
          </a:prstGeom>
          <a:ln w="1524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5720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1">
                <a:solidFill>
                  <a:srgbClr val="E07B39"/>
                </a:solidFill>
                <a:latin typeface="Songti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B1B1B"/>
                </a:solidFill>
                <a:latin typeface="Songti SC"/>
              </a:rPr>
              <a:t>四极稳固，但梯队在重排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粤苏鲁浙仍是四极，合计 34.9%。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西部省份累计增速更快；山西为唯一 2024 较 2023 小幅收缩的省份。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517136"/>
            <a:ext cx="5394960" cy="0"/>
          </a:xfrm>
          <a:prstGeom prst="line">
            <a:avLst/>
          </a:prstGeom>
          <a:ln w="1524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45720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1">
                <a:solidFill>
                  <a:srgbClr val="E07B39"/>
                </a:solidFill>
                <a:latin typeface="Songti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029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B1B1B"/>
                </a:solidFill>
                <a:latin typeface="Songti SC"/>
              </a:rPr>
              <a:t>增速同步，路径却分岔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48640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省际增速 r = +0.79 高度联动；</a:t>
            </a:r>
          </a:p>
          <a:p>
            <a:pPr algn="l">
              <a:lnSpc>
                <a:spcPct val="145000"/>
              </a:lnSpc>
            </a:pPr>
            <a:r>
              <a:rPr sz="1150" b="0" i="0">
                <a:solidFill>
                  <a:srgbClr val="3A3A3A"/>
                </a:solidFill>
                <a:latin typeface="Songti SC"/>
              </a:rPr>
              <a:t>但结构升级 ≠ 快速增长 (r = −0.21)，追赶与升级不等价。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63640" y="4517136"/>
            <a:ext cx="5394960" cy="0"/>
          </a:xfrm>
          <a:prstGeom prst="line">
            <a:avLst/>
          </a:prstGeom>
          <a:ln w="1524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B1B1B"/>
                </a:solidFill>
                <a:latin typeface="Songti SC"/>
              </a:rPr>
              <a:t>■  工业 → 服务 · 中国经济的十年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Ch.1 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3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Ch.2 区域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19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Ch.3 相关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59" y="201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6695A"/>
                </a:solidFill>
                <a:latin typeface="Menlo"/>
              </a:rPr>
              <a:t>结语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635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8686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B2322A"/>
                </a:solidFill>
                <a:latin typeface="Menlo"/>
              </a:rPr>
              <a:t>方法论  · 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1B1B1B"/>
                </a:solidFill>
                <a:latin typeface="Songti SC"/>
              </a:rPr>
              <a:t>数据、工具与复现方式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057400"/>
            <a:ext cx="10972800" cy="0"/>
          </a:xfrm>
          <a:prstGeom prst="line">
            <a:avLst/>
          </a:prstGeom>
          <a:ln w="25400">
            <a:solidFill>
              <a:srgbClr val="1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3317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数据时段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317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2015 – 2024（年度）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2679192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271576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数据口径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157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国家统计局第五次全国经济普查（2023）修订后数据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063240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09981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覆盖范围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099816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中国大陆 31 省 / 自治区 / 直辖市（港澳台未纳入）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3447288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348386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主数据源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483864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NBS《2024 年国民经济和社会发展统计公报》及历年分省数据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3831336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86791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地图底图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867912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阿里云 DataV · 中国省级 GeoJSON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4215384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42519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绘图工具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25196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Python · pandas · numpy · matplotlib · squarify（无 geopandas）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4599432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63600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视觉体系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63600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FT 编辑部风 · 暖橙 = 第三产业 · 雾蓝 = 第二产业 · 低饱和绿 = 第一产业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4983480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502005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数据文件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020056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data/gdp_2015_2024.csv（长表 310 行）· gdp_wide_total.csv · gdp_national.csv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5367528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540410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交付件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5404104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14 张 PNG · 项目报告 report.md · HTML 站点 · 本 PPT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" y="5751576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5788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76695A"/>
                </a:solidFill>
                <a:latin typeface="Menlo"/>
              </a:rPr>
              <a:t>在线查看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5788152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B1B1B"/>
                </a:solidFill>
                <a:latin typeface="PingFang SC"/>
              </a:rPr>
              <a:t>https://ludan-daye.github.io/china-gdp-2015-2024/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" y="6135624"/>
            <a:ext cx="11064240" cy="0"/>
          </a:xfrm>
          <a:prstGeom prst="line">
            <a:avLst/>
          </a:prstGeom>
          <a:ln w="3810">
            <a:solidFill>
              <a:srgbClr val="C8BE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